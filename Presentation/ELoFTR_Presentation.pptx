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Classical (ORB)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Inlier ratio</c:v>
                </c:pt>
                <c:pt idx="1">
                  <c:v>MMA @ 3px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2.2000000000000002</c:v>
                </c:pt>
                <c:pt idx="1">
                  <c:v>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92-5F48-94BA-EFB2B1234D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Pre-trained ELoFTR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Inlier ratio</c:v>
                </c:pt>
                <c:pt idx="1">
                  <c:v>MMA @ 3px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</c:v>
                </c:pt>
                <c:pt idx="1">
                  <c:v>71.8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F92-5F48-94BA-EFB2B1234D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Fine-tuned ELoFTR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Inlier ratio</c:v>
                </c:pt>
                <c:pt idx="1">
                  <c:v>MMA @ 3px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44.8</c:v>
                </c:pt>
                <c:pt idx="1">
                  <c:v>76.400000000000006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F92-5F48-94BA-EFB2B1234D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4FB-344C-B4E7-C0EE846BB7CD}"/>
              </c:ext>
            </c:extLst>
          </c:dPt>
          <c:dPt>
            <c:idx val="1"/>
            <c:invertIfNegative val="0"/>
            <c:bubble3D val="0"/>
            <c:spPr>
              <a:solidFill>
                <a:srgbClr val="0EA5E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FB-344C-B4E7-C0EE846BB7CD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FB-344C-B4E7-C0EE846BB7C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334155"/>
                    </a:solidFill>
                    <a:latin typeface="Arial"/>
                  </a:defRPr>
                </a:pPr>
                <a:endParaRPr lang="en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ORB</c:v>
                </c:pt>
                <c:pt idx="1">
                  <c:v>Pre-trained</c:v>
                </c:pt>
                <c:pt idx="2">
                  <c:v>Fine-tuned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11.4</c:v>
                </c:pt>
                <c:pt idx="1">
                  <c:v>6.2</c:v>
                </c:pt>
                <c:pt idx="2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4FB-344C-B4E7-C0EE846BB7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301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Introduce the goal: evaluate EfficientLoFTR for thermal–optical matching, fine-tune it, and compare against a classical ORB+RANSAC pipeline. Thermal=amber, optical=cyan motif carried through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Six beats: problem, model, methods, setup, results, conclusions. Keep it to ~20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Motivation. Thermal and optical sensors differ physically, so hand-crafted descriptors that assume photometric consistency fail. The ORB teaser (7/287 inliers) frames the central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ELoFTR is: detector-free, semi-dense, transformer-based, ~2.5x faster than LoFTR. Three innovations: aggregated attention, two-stage refinement, RepVGG + optional dual-softmax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extract → coarse transform (aggregated attention xN, RoPE) → coarse match (dual-softmax + MNN) → two-stage fine match (MNN then 3x3 subpixel).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methods on one benchmark: classical ORB; pre-trained ELoFTR (zero-shot); fine-tuned ELoFTR. Note SURF is patented so ORB is the classical representative. All scored identically with RANSAC@3px.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Setup: RoadScene, 221 aligned IR/RGB pairs, 176/22/23 split, 640x480, homography+photometric augmentation. Two-stage fine-tuning: warm up backbone (transformer frozen), then end-to-end. Adam 1e-5, AMP, 25 epochs/stage.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Qualitative, same pair FLIR_00006: ORB keeps 7 inliers (2.4%); zero-shot ELoFTR keeps 116 (27.6%) — 16x more, with no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Qualitative, fine-tuned: ~1000–2200 confident matches per unseen pair, spread across textureless regions, geometrically coherent.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Quantitative table. Walk top to bottom; highlight the fine-tuned row. 91x more inliers than ORB; fine-tuning adds +12.8 pts inlier ratio and lifts MMA to 76.4%. Note MMA is measured against the pairs' known registration.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Charts. Accuracy gap is huge and fine-tuning widens it. ORB has higher raw FPS but useless matches; both ELoFTR variants share one architecture so speed is effectively equal and real-time.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Strengths/trade-offs. ORB: fast, no GPU, but breaks across modality. ELoFTR: robust, accurate, fine-tuning helps, real-time, but needs a GPU and benefits from in-domain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Conclusions: ELoFTR decisively wins; fine-tuning adds a real margin; stays real-time. Future: ROMA GT homographies + pose AUC, larger datasets, LO-RANSAC/SURF, global context for repetitive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Invite questions; offer to walk through code, training, or results in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7800535" y="596469"/>
            <a:ext cx="3931920" cy="155448"/>
          </a:xfrm>
          <a:prstGeom prst="line">
            <a:avLst/>
          </a:prstGeom>
          <a:noFill/>
          <a:ln w="1778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>
            <a:off x="7754815" y="706197"/>
            <a:ext cx="91440" cy="914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11686735" y="541605"/>
            <a:ext cx="91440" cy="914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7800535" y="1117677"/>
            <a:ext cx="3931920" cy="201168"/>
          </a:xfrm>
          <a:prstGeom prst="line">
            <a:avLst/>
          </a:prstGeom>
          <a:noFill/>
          <a:ln w="1778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7754815" y="1071957"/>
            <a:ext cx="91440" cy="91440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Shape 5"/>
          <p:cNvSpPr/>
          <p:nvPr/>
        </p:nvSpPr>
        <p:spPr>
          <a:xfrm>
            <a:off x="11686735" y="1273125"/>
            <a:ext cx="91440" cy="91440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 flipV="1">
            <a:off x="7800535" y="1327989"/>
            <a:ext cx="3931920" cy="155448"/>
          </a:xfrm>
          <a:prstGeom prst="line">
            <a:avLst/>
          </a:prstGeom>
          <a:noFill/>
          <a:ln w="1778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hape 7"/>
          <p:cNvSpPr/>
          <p:nvPr/>
        </p:nvSpPr>
        <p:spPr>
          <a:xfrm>
            <a:off x="7754815" y="1437717"/>
            <a:ext cx="91440" cy="914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0" name="Shape 8"/>
          <p:cNvSpPr/>
          <p:nvPr/>
        </p:nvSpPr>
        <p:spPr>
          <a:xfrm>
            <a:off x="11686735" y="1273125"/>
            <a:ext cx="91440" cy="914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1" name="Shape 9"/>
          <p:cNvSpPr/>
          <p:nvPr/>
        </p:nvSpPr>
        <p:spPr>
          <a:xfrm>
            <a:off x="7800535" y="1849197"/>
            <a:ext cx="3931920" cy="201168"/>
          </a:xfrm>
          <a:prstGeom prst="line">
            <a:avLst/>
          </a:prstGeom>
          <a:noFill/>
          <a:ln w="1778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hape 10"/>
          <p:cNvSpPr/>
          <p:nvPr/>
        </p:nvSpPr>
        <p:spPr>
          <a:xfrm>
            <a:off x="7754815" y="1803477"/>
            <a:ext cx="91440" cy="91440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Shape 11"/>
          <p:cNvSpPr/>
          <p:nvPr/>
        </p:nvSpPr>
        <p:spPr>
          <a:xfrm>
            <a:off x="11686735" y="2004645"/>
            <a:ext cx="91440" cy="91440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Shape 12"/>
          <p:cNvSpPr/>
          <p:nvPr/>
        </p:nvSpPr>
        <p:spPr>
          <a:xfrm flipV="1">
            <a:off x="7800535" y="2059509"/>
            <a:ext cx="3931920" cy="155448"/>
          </a:xfrm>
          <a:prstGeom prst="line">
            <a:avLst/>
          </a:prstGeom>
          <a:noFill/>
          <a:ln w="1778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7754815" y="2169237"/>
            <a:ext cx="91440" cy="914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Shape 14"/>
          <p:cNvSpPr/>
          <p:nvPr/>
        </p:nvSpPr>
        <p:spPr>
          <a:xfrm>
            <a:off x="11686735" y="2004645"/>
            <a:ext cx="91440" cy="91440"/>
          </a:xfrm>
          <a:prstGeom prst="ellipse">
            <a:avLst/>
          </a:prstGeom>
          <a:solidFill>
            <a:srgbClr val="F59E0B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7800535" y="2580717"/>
            <a:ext cx="3931920" cy="201168"/>
          </a:xfrm>
          <a:prstGeom prst="line">
            <a:avLst/>
          </a:prstGeom>
          <a:noFill/>
          <a:ln w="17780">
            <a:solidFill>
              <a:srgbClr val="0EA5E9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hape 16"/>
          <p:cNvSpPr/>
          <p:nvPr/>
        </p:nvSpPr>
        <p:spPr>
          <a:xfrm>
            <a:off x="7754815" y="2534997"/>
            <a:ext cx="91440" cy="91440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9" name="Shape 17"/>
          <p:cNvSpPr/>
          <p:nvPr/>
        </p:nvSpPr>
        <p:spPr>
          <a:xfrm>
            <a:off x="11686735" y="2736165"/>
            <a:ext cx="91440" cy="91440"/>
          </a:xfrm>
          <a:prstGeom prst="ellipse">
            <a:avLst/>
          </a:prstGeom>
          <a:solidFill>
            <a:srgbClr val="0EA5E9">
              <a:alpha val="70000"/>
            </a:srgbClr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0" name="Text 18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EVALUATION  ·  DEEP LEARNING STUDY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18288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Fine-Tuning of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EfficientLoFTR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Semi-dense local feature matching for thermal–optical (IR ↔ RGB) image pairs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416052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23344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4" name="Image 0" descr="/home/claude/icons/therm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4281221"/>
            <a:ext cx="261518" cy="26151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33856" y="416052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/ IR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3108960" y="4160520"/>
            <a:ext cx="2423160" cy="502920"/>
          </a:xfrm>
          <a:prstGeom prst="roundRect">
            <a:avLst>
              <a:gd name="adj" fmla="val 50000"/>
            </a:avLst>
          </a:prstGeom>
          <a:solidFill>
            <a:srgbClr val="23344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7" name="Image 1" descr="/home/claude/icons/camera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778" y="4281221"/>
            <a:ext cx="261518" cy="26151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602736" y="416052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/ RGB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0080" y="5486400"/>
            <a:ext cx="5669280" cy="0"/>
          </a:xfrm>
          <a:prstGeom prst="line">
            <a:avLst/>
          </a:prstGeom>
          <a:noFill/>
          <a:ln w="12700">
            <a:solidFill>
              <a:srgbClr val="31436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Text 26"/>
          <p:cNvSpPr/>
          <p:nvPr/>
        </p:nvSpPr>
        <p:spPr>
          <a:xfrm>
            <a:off x="640080" y="5623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Arman Sajjadi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Prof. Hasan F. Ates  ·  Özyeğin University — Faculty of Engineering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covers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896112" y="193852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0" descr="/home/claude/icons/crosshai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685" y="2131101"/>
            <a:ext cx="328087" cy="3280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52848" y="1801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783080" y="1892808"/>
            <a:ext cx="330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783080" y="2258568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cross-modal matching breaks classical features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24448" y="169164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Shape 8"/>
          <p:cNvSpPr/>
          <p:nvPr/>
        </p:nvSpPr>
        <p:spPr>
          <a:xfrm>
            <a:off x="6580480" y="1938528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1" descr="/home/claude/icons/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052" y="2131101"/>
            <a:ext cx="328087" cy="3280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37215" y="18013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467448" y="1892808"/>
            <a:ext cx="330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EfficientLoFTR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7467448" y="2258568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detector-free, semi-dense transformer matcher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06324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Shape 13"/>
          <p:cNvSpPr/>
          <p:nvPr/>
        </p:nvSpPr>
        <p:spPr>
          <a:xfrm>
            <a:off x="896112" y="3310128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8" name="Image 2" descr="/home/claude/icons/sca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685" y="3502701"/>
            <a:ext cx="328087" cy="3280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52848" y="31729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1783080" y="3264408"/>
            <a:ext cx="330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compared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1783080" y="3630168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ORB vs. pre-trained vs. fine-tuned ELoFTR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24448" y="306324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3" name="Shape 18"/>
          <p:cNvSpPr/>
          <p:nvPr/>
        </p:nvSpPr>
        <p:spPr>
          <a:xfrm>
            <a:off x="6580480" y="3310128"/>
            <a:ext cx="713232" cy="7132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4" name="Image 3" descr="/home/claude/icons/flas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052" y="3502701"/>
            <a:ext cx="328087" cy="32808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37215" y="31729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467448" y="3264408"/>
            <a:ext cx="330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7467448" y="3630168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RoadScene dataset &amp; a two-stage fine-tuning recipe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443484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9" name="Shape 23"/>
          <p:cNvSpPr/>
          <p:nvPr/>
        </p:nvSpPr>
        <p:spPr>
          <a:xfrm>
            <a:off x="896112" y="4681728"/>
            <a:ext cx="713232" cy="71323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0" name="Image 4" descr="/home/claude/icons/char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685" y="4874301"/>
            <a:ext cx="328087" cy="32808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52848" y="4544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1783080" y="4636008"/>
            <a:ext cx="330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50" dirty="0"/>
          </a:p>
        </p:txBody>
      </p:sp>
      <p:sp>
        <p:nvSpPr>
          <p:cNvPr id="33" name="Text 26"/>
          <p:cNvSpPr/>
          <p:nvPr/>
        </p:nvSpPr>
        <p:spPr>
          <a:xfrm>
            <a:off x="1783080" y="5001768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matches &amp; quantitative head-to-head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6324448" y="4434840"/>
            <a:ext cx="5227168" cy="1207008"/>
          </a:xfrm>
          <a:prstGeom prst="roundRect">
            <a:avLst>
              <a:gd name="adj" fmla="val 7576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35" name="Shape 28"/>
          <p:cNvSpPr/>
          <p:nvPr/>
        </p:nvSpPr>
        <p:spPr>
          <a:xfrm>
            <a:off x="6580480" y="4681728"/>
            <a:ext cx="713232" cy="7132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6" name="Image 5" descr="/home/claude/icons/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3052" y="4874301"/>
            <a:ext cx="328087" cy="32808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37215" y="454456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C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7467448" y="4636008"/>
            <a:ext cx="330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650" dirty="0"/>
          </a:p>
        </p:txBody>
      </p:sp>
      <p:sp>
        <p:nvSpPr>
          <p:cNvPr id="39" name="Text 31"/>
          <p:cNvSpPr/>
          <p:nvPr/>
        </p:nvSpPr>
        <p:spPr>
          <a:xfrm>
            <a:off x="7467448" y="5001768"/>
            <a:ext cx="394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directions for future work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across modalities breaks classical features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and optical sensors see the same scene through different physics — edges, textures and even intensity ordering can invert between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841248" y="266090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" name="Image 0" descr="/home/claude/icons/fire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80903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59689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gap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600200" y="288950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descriptors (SIFT/SURF/ORB) assume photometric consistency that does not hold IR ↔ RGB.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3511296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1" name="Shape 8"/>
          <p:cNvSpPr/>
          <p:nvPr/>
        </p:nvSpPr>
        <p:spPr>
          <a:xfrm>
            <a:off x="841248" y="3685032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1" descr="/home/claude/icons/sear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3833165"/>
            <a:ext cx="252374" cy="2523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36210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Texture-poor regions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600200" y="39136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sky and walls give few repeatable keypoints to detect and describe.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535424"/>
            <a:ext cx="5212080" cy="896112"/>
          </a:xfrm>
          <a:prstGeom prst="roundRect">
            <a:avLst>
              <a:gd name="adj" fmla="val 9184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6" name="Shape 12"/>
          <p:cNvSpPr/>
          <p:nvPr/>
        </p:nvSpPr>
        <p:spPr>
          <a:xfrm>
            <a:off x="841248" y="470916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7" name="Image 2" descr="/home/claude/icons/filt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485729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645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can't save it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600200" y="49377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mostly wrong putatives, geometric verification keeps only a handful of inliers.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1691640"/>
            <a:ext cx="5196535" cy="3611880"/>
          </a:xfrm>
          <a:prstGeom prst="roundRect">
            <a:avLst>
              <a:gd name="adj" fmla="val 2532"/>
            </a:avLst>
          </a:prstGeom>
          <a:solidFill>
            <a:srgbClr val="0E1726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Text 16"/>
          <p:cNvSpPr/>
          <p:nvPr/>
        </p:nvSpPr>
        <p:spPr>
          <a:xfrm>
            <a:off x="6583680" y="1874520"/>
            <a:ext cx="4739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ORB · ONE THERMAL–OPTICAL PAIR</a:t>
            </a:r>
            <a:endParaRPr lang="en-US" sz="1050" dirty="0"/>
          </a:p>
        </p:txBody>
      </p:sp>
      <p:pic>
        <p:nvPicPr>
          <p:cNvPr id="22" name="Image 3" descr="/home/claude/nb_images/orb_cle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2194560"/>
            <a:ext cx="4739335" cy="14750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583680" y="3852490"/>
            <a:ext cx="4739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287 matches survive RANSAC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6583680" y="4337122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2.4% inlier ratio — effectively unusable for pose or reconstruction.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question: can a modern detector-free matcher close this gap — and how much does domain fine-tuning add?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EfficientLoFTR in a nutshell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591056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Detector-free</a:t>
            </a: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4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semi-dense</a:t>
            </a: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instead of detecting keypoints, a transformer directly establishes correspondences across the whole image — robust to viewpoint change and texture-poor scenes, at </a:t>
            </a:r>
            <a:r>
              <a:rPr lang="en-US" sz="1450" b="1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~2.5× the speed of LoFTR.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393338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932688" y="2825496"/>
            <a:ext cx="786384" cy="78638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" name="Image 0" descr="/home/claude/icons/compres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012" y="3037820"/>
            <a:ext cx="361737" cy="3617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72160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attention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32688" y="4087368"/>
            <a:ext cx="2826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&amp; salient tokens are pooled before attention, so vanilla attention runs on far fewer tokens — fast and expressive.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99178" y="2514600"/>
            <a:ext cx="3393338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1" name="Shape 8"/>
          <p:cNvSpPr/>
          <p:nvPr/>
        </p:nvSpPr>
        <p:spPr>
          <a:xfrm>
            <a:off x="4691786" y="2825496"/>
            <a:ext cx="786384" cy="78638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1" descr="/home/claude/icons/crosshai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110" y="3037820"/>
            <a:ext cx="361737" cy="3617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1786" y="372160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refinement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691786" y="4087368"/>
            <a:ext cx="2826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Mutual-nearest-neighbour gives a pixel match, then a tiny 3×3 correlation window yields a sub-pixel result with minimal variance.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58277" y="2514600"/>
            <a:ext cx="3393338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6" name="Shape 12"/>
          <p:cNvSpPr/>
          <p:nvPr/>
        </p:nvSpPr>
        <p:spPr>
          <a:xfrm>
            <a:off x="8450885" y="2825496"/>
            <a:ext cx="786384" cy="7863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7" name="Image 2" descr="/home/claude/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208" y="3037820"/>
            <a:ext cx="361737" cy="36173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0885" y="3721608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speed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450885" y="4087368"/>
            <a:ext cx="28264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reparameterized RepVGG backbone, plus an optional drop of dual-softmax at inference, push it to sparse-like latency.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5138928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~2.5×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LoFTR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399178" y="5138928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semi-dense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matches, no detector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158277" y="5138928"/>
            <a:ext cx="33933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SP+LightGlue   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higher accuracy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coarse-to-fine matching pipeline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50694" cy="2743200"/>
          </a:xfrm>
          <a:prstGeom prst="roundRect">
            <a:avLst>
              <a:gd name="adj" fmla="val 3890"/>
            </a:avLst>
          </a:prstGeom>
          <a:solidFill>
            <a:srgbClr val="FDF1DF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14400" y="22037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6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076374" y="2240280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" name="Image 0" descr="/home/claude/icons/ima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320" y="2403226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044952"/>
            <a:ext cx="18477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630168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RepVGG backbone produces 1/8 coarse maps plus 1/4 &amp; 1/2 fine features.</a:t>
            </a:r>
            <a:endParaRPr lang="en-US" sz="1150" dirty="0"/>
          </a:p>
        </p:txBody>
      </p:sp>
      <p:pic>
        <p:nvPicPr>
          <p:cNvPr id="10" name="Image 1" descr="/home/claude/icons/arrow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930" y="319125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93694" y="1965960"/>
            <a:ext cx="2350694" cy="2743200"/>
          </a:xfrm>
          <a:prstGeom prst="roundRect">
            <a:avLst>
              <a:gd name="adj" fmla="val 3890"/>
            </a:avLst>
          </a:prstGeom>
          <a:solidFill>
            <a:srgbClr val="E7F3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2" name="Text 8"/>
          <p:cNvSpPr/>
          <p:nvPr/>
        </p:nvSpPr>
        <p:spPr>
          <a:xfrm>
            <a:off x="3768014" y="22037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B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Shape 9"/>
          <p:cNvSpPr/>
          <p:nvPr/>
        </p:nvSpPr>
        <p:spPr>
          <a:xfrm>
            <a:off x="4929988" y="2240280"/>
            <a:ext cx="603504" cy="603504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4" name="Image 2" descr="/home/claude/icons/compres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2934" y="2403226"/>
            <a:ext cx="277612" cy="2776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68014" y="3044952"/>
            <a:ext cx="18477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transform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3768014" y="3630168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self- &amp; cross-attention ×N with rotary position encoding.</a:t>
            </a:r>
            <a:endParaRPr lang="en-US" sz="1150" dirty="0"/>
          </a:p>
        </p:txBody>
      </p:sp>
      <p:pic>
        <p:nvPicPr>
          <p:cNvPr id="17" name="Image 3" descr="/home/claude/icons/arrow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3191256"/>
            <a:ext cx="292608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347308" y="1965960"/>
            <a:ext cx="2350694" cy="2743200"/>
          </a:xfrm>
          <a:prstGeom prst="roundRect">
            <a:avLst>
              <a:gd name="adj" fmla="val 3890"/>
            </a:avLst>
          </a:prstGeom>
          <a:solidFill>
            <a:srgbClr val="FDF1DF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9" name="Text 13"/>
          <p:cNvSpPr/>
          <p:nvPr/>
        </p:nvSpPr>
        <p:spPr>
          <a:xfrm>
            <a:off x="6621628" y="22037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6D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Shape 14"/>
          <p:cNvSpPr/>
          <p:nvPr/>
        </p:nvSpPr>
        <p:spPr>
          <a:xfrm>
            <a:off x="7783601" y="2240280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1" name="Image 4" descr="/home/claude/icons/networ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6547" y="2403226"/>
            <a:ext cx="277612" cy="2776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21628" y="3044952"/>
            <a:ext cx="18477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matching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621628" y="3630168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matrix → dual-softmax → mutual-nearest-neighbour coarse matches.</a:t>
            </a:r>
            <a:endParaRPr lang="en-US" sz="1150" dirty="0"/>
          </a:p>
        </p:txBody>
      </p:sp>
      <p:pic>
        <p:nvPicPr>
          <p:cNvPr id="24" name="Image 5" descr="/home/claude/icons/arrow_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3157" y="3191256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200921" y="1965960"/>
            <a:ext cx="2350694" cy="2743200"/>
          </a:xfrm>
          <a:prstGeom prst="roundRect">
            <a:avLst>
              <a:gd name="adj" fmla="val 3890"/>
            </a:avLst>
          </a:prstGeom>
          <a:solidFill>
            <a:srgbClr val="E7F3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6" name="Text 18"/>
          <p:cNvSpPr/>
          <p:nvPr/>
        </p:nvSpPr>
        <p:spPr>
          <a:xfrm>
            <a:off x="9475241" y="220370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BE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7" name="Shape 19"/>
          <p:cNvSpPr/>
          <p:nvPr/>
        </p:nvSpPr>
        <p:spPr>
          <a:xfrm>
            <a:off x="10637215" y="2240280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8" name="Image 6" descr="/home/claude/icons/crosshai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0161" y="2403226"/>
            <a:ext cx="277612" cy="2776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9475241" y="3044952"/>
            <a:ext cx="18477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matching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9475241" y="3630168"/>
            <a:ext cx="18477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refine: MNN pixel match, then 3×3 sub-pixel expectation.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40080" y="507492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2" name="Shape 23"/>
          <p:cNvSpPr/>
          <p:nvPr/>
        </p:nvSpPr>
        <p:spPr>
          <a:xfrm>
            <a:off x="868680" y="52303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3" name="Image 7" descr="/home/claude/icons/bulb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696" y="5358384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508760" y="5074920"/>
            <a:ext cx="9814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efficient:  </a:t>
            </a:r>
            <a:r>
              <a:rPr lang="en-US" sz="120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is the bottleneck in LoFTR — aggregating tokens first means the transformer touches a fraction of them, while the two-stage refinement removes the spatial variance of LoFTR's expectation-only fine step.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FROM THE PAPER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matching pipeline</a:t>
            </a:r>
            <a:endParaRPr lang="en-US" sz="3100" dirty="0"/>
          </a:p>
        </p:txBody>
      </p:sp>
      <p:sp>
        <p:nvSpPr>
          <p:cNvPr id="4" name="ImageCard"/>
          <p:cNvSpPr/>
          <p:nvPr/>
        </p:nvSpPr>
        <p:spPr>
          <a:xfrm>
            <a:off x="640080" y="1591056"/>
            <a:ext cx="10911535" cy="3884930"/>
          </a:xfrm>
          <a:prstGeom prst="roundRect">
            <a:avLst>
              <a:gd name="adj" fmla="val 2532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5" name="Figure2" descr="ELoFTR paper Figure 2: full 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156" y="2148840"/>
            <a:ext cx="7609383" cy="332714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1773936"/>
            <a:ext cx="10454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EFFICIENTLOFTR — FIGURE 2</a:t>
            </a:r>
            <a:endParaRPr lang="en-US" sz="1050" dirty="0"/>
          </a:p>
        </p:txBody>
      </p:sp>
      <p:sp>
        <p:nvSpPr>
          <p:cNvPr id="7" name="Shape Footer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stages, one pass: extract → transform → coarse match → fine match — each block above maps directly onto the step cards on the previous page.</a:t>
            </a:r>
            <a:endParaRPr lang="en-US" sz="1350" dirty="0"/>
          </a:p>
        </p:txBody>
      </p:sp>
      <p:sp>
        <p:nvSpPr>
          <p:cNvPr id="8" name="Text Page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matchers, one benchmark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93338" cy="3246120"/>
          </a:xfrm>
          <a:prstGeom prst="roundRect">
            <a:avLst>
              <a:gd name="adj" fmla="val 2817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32688" y="1883664"/>
            <a:ext cx="220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64738" y="1901952"/>
            <a:ext cx="566928" cy="566928"/>
          </a:xfrm>
          <a:prstGeom prst="ellipse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" name="Image 0" descr="/home/claude/icons/co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809" y="2055023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2157984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+ RANSAC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50976" y="2724912"/>
            <a:ext cx="28264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detector/descriptor (2000 features)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Hamming matcher, cross-check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homography (3 px) verification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950976" y="4041648"/>
            <a:ext cx="2771546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8"/>
          <p:cNvSpPr/>
          <p:nvPr/>
        </p:nvSpPr>
        <p:spPr>
          <a:xfrm>
            <a:off x="950976" y="4133088"/>
            <a:ext cx="2808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 is patented/non-free in OpenCV, so ORB is used as the standard hand-crafted representative.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399178" y="1645920"/>
            <a:ext cx="3393338" cy="3246120"/>
          </a:xfrm>
          <a:prstGeom prst="roundRect">
            <a:avLst>
              <a:gd name="adj" fmla="val 2817"/>
            </a:avLst>
          </a:prstGeom>
          <a:solidFill>
            <a:srgbClr val="E7F3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691786" y="1883664"/>
            <a:ext cx="220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923837" y="1901952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5" name="Image 1" descr="/home/claude/icons/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907" y="2055023"/>
            <a:ext cx="260787" cy="26078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1786" y="2157984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ELoFTR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710074" y="2724912"/>
            <a:ext cx="28264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outdoor weights (MegaDepth)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directly on thermal–optical pairs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— tests raw generalization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10074" y="4041648"/>
            <a:ext cx="2771546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5"/>
          <p:cNvSpPr/>
          <p:nvPr/>
        </p:nvSpPr>
        <p:spPr>
          <a:xfrm>
            <a:off x="4710074" y="4133088"/>
            <a:ext cx="2808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far an off-the-shelf modern matcher already transfers across modalities.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8158277" y="1645920"/>
            <a:ext cx="3393338" cy="3246120"/>
          </a:xfrm>
          <a:prstGeom prst="roundRect">
            <a:avLst>
              <a:gd name="adj" fmla="val 2817"/>
            </a:avLst>
          </a:prstGeom>
          <a:solidFill>
            <a:srgbClr val="FDF1DF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Text 17"/>
          <p:cNvSpPr/>
          <p:nvPr/>
        </p:nvSpPr>
        <p:spPr>
          <a:xfrm>
            <a:off x="8450885" y="1883664"/>
            <a:ext cx="2204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10682935" y="1901952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3" name="Image 2" descr="/home/claude/icons/road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6006" y="2055023"/>
            <a:ext cx="260787" cy="26078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50885" y="2157984"/>
            <a:ext cx="2844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ELoFTR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469173" y="2724912"/>
            <a:ext cx="282641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network, adapted to RoadScene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two-stage fine-tuning recipe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homography self-supervision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8469173" y="4041648"/>
            <a:ext cx="2771546" cy="0"/>
          </a:xfrm>
          <a:prstGeom prst="line">
            <a:avLst/>
          </a:prstGeom>
          <a:noFill/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2"/>
          <p:cNvSpPr/>
          <p:nvPr/>
        </p:nvSpPr>
        <p:spPr>
          <a:xfrm>
            <a:off x="8469173" y="4133088"/>
            <a:ext cx="280812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0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how much a modest amount of in-domain training buys on this task.</a:t>
            </a:r>
            <a:endParaRPr lang="en-US" sz="1080" dirty="0"/>
          </a:p>
        </p:txBody>
      </p:sp>
      <p:sp>
        <p:nvSpPr>
          <p:cNvPr id="28" name="Shape 23"/>
          <p:cNvSpPr/>
          <p:nvPr/>
        </p:nvSpPr>
        <p:spPr>
          <a:xfrm>
            <a:off x="640080" y="5138928"/>
            <a:ext cx="10911535" cy="713232"/>
          </a:xfrm>
          <a:prstGeom prst="roundRect">
            <a:avLst>
              <a:gd name="adj" fmla="val 12821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9" name="Shape 24"/>
          <p:cNvSpPr/>
          <p:nvPr/>
        </p:nvSpPr>
        <p:spPr>
          <a:xfrm>
            <a:off x="859536" y="5276088"/>
            <a:ext cx="438912" cy="43891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30" name="Image 3" descr="/home/claude/icons/scal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" y="539496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463040" y="5138928"/>
            <a:ext cx="98599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8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evaluation:  </a:t>
            </a:r>
            <a:r>
              <a:rPr lang="en-US" sz="118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method is scored the same way — RANSAC homography at 3 px → inlier count, inlier ratio, matching accuracy (MMA@3px) and runtime (FPS) on the held-out RoadScene test set.</a:t>
            </a:r>
            <a:endParaRPr lang="en-US" sz="1180" dirty="0"/>
          </a:p>
        </p:txBody>
      </p:sp>
      <p:sp>
        <p:nvSpPr>
          <p:cNvPr id="32" name="Text 2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fine-tuning recipe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983480" cy="4160520"/>
          </a:xfrm>
          <a:prstGeom prst="roundRect">
            <a:avLst>
              <a:gd name="adj" fmla="val 2198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0" descr="/home/claude/icons/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471" y="20733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385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RoadScene dataset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00200" y="2322576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infrared ↔ visible road scenes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14400" y="2788920"/>
            <a:ext cx="1386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/>
          <p:nvPr/>
        </p:nvSpPr>
        <p:spPr>
          <a:xfrm>
            <a:off x="914400" y="28803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14400" y="3337560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38400" y="2788920"/>
            <a:ext cx="1386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2438400" y="28803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438400" y="3337560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62400" y="2788920"/>
            <a:ext cx="1386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3962400" y="2880360"/>
            <a:ext cx="1386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962400" y="3337560"/>
            <a:ext cx="1386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376732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paired images</a:t>
            </a: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total, split 80 / 10 / 10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32688" y="4187952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&amp; augmentation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resized to 640 × 480</a:t>
            </a:r>
            <a:endParaRPr lang="en-US" sz="1250" dirty="0"/>
          </a:p>
          <a:p>
            <a:pPr marL="342900" indent="-342900">
              <a:lnSpc>
                <a:spcPct val="10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homography warp (≤ 5% corner shift)</a:t>
            </a:r>
            <a:endParaRPr lang="en-US" sz="1250" dirty="0"/>
          </a:p>
          <a:p>
            <a:pPr marL="342900" indent="-34290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/ contrast + Gaussian noise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080760" y="1645920"/>
            <a:ext cx="5470855" cy="1417320"/>
          </a:xfrm>
          <a:prstGeom prst="roundRect">
            <a:avLst>
              <a:gd name="adj" fmla="val 6452"/>
            </a:avLst>
          </a:prstGeom>
          <a:solidFill>
            <a:srgbClr val="FDF1DF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Shape 18"/>
          <p:cNvSpPr/>
          <p:nvPr/>
        </p:nvSpPr>
        <p:spPr>
          <a:xfrm>
            <a:off x="6336792" y="1920240"/>
            <a:ext cx="868680" cy="86868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6336792" y="1956816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20"/>
          <p:cNvSpPr/>
          <p:nvPr/>
        </p:nvSpPr>
        <p:spPr>
          <a:xfrm>
            <a:off x="7406640" y="1847088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06640" y="2066544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the backbone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7406640" y="2432304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outdoor weights, freeze the transformer, train only the RepVGG CNN backbone to absorb the new modality.</a:t>
            </a:r>
            <a:endParaRPr lang="en-US" sz="1130" dirty="0"/>
          </a:p>
        </p:txBody>
      </p:sp>
      <p:sp>
        <p:nvSpPr>
          <p:cNvPr id="26" name="Shape 23"/>
          <p:cNvSpPr/>
          <p:nvPr/>
        </p:nvSpPr>
        <p:spPr>
          <a:xfrm>
            <a:off x="6080760" y="3291840"/>
            <a:ext cx="5470855" cy="1417320"/>
          </a:xfrm>
          <a:prstGeom prst="roundRect">
            <a:avLst>
              <a:gd name="adj" fmla="val 6452"/>
            </a:avLst>
          </a:prstGeom>
          <a:solidFill>
            <a:srgbClr val="E7F3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7" name="Shape 24"/>
          <p:cNvSpPr/>
          <p:nvPr/>
        </p:nvSpPr>
        <p:spPr>
          <a:xfrm>
            <a:off x="6336792" y="3566160"/>
            <a:ext cx="868680" cy="86868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28" name="Text 25"/>
          <p:cNvSpPr/>
          <p:nvPr/>
        </p:nvSpPr>
        <p:spPr>
          <a:xfrm>
            <a:off x="6336792" y="3602736"/>
            <a:ext cx="868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7406640" y="3493008"/>
            <a:ext cx="39163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8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06640" y="3712464"/>
            <a:ext cx="3916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adaptation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7406640" y="4078224"/>
            <a:ext cx="3916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best Stage-1 weights, unfreeze the whole network and train the transformer too for cross-modal matching.</a:t>
            </a:r>
            <a:endParaRPr lang="en-US" sz="1130" dirty="0"/>
          </a:p>
        </p:txBody>
      </p:sp>
      <p:sp>
        <p:nvSpPr>
          <p:cNvPr id="32" name="Text 29"/>
          <p:cNvSpPr/>
          <p:nvPr/>
        </p:nvSpPr>
        <p:spPr>
          <a:xfrm>
            <a:off x="6080760" y="4919472"/>
            <a:ext cx="5470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· lr 1e-5 · 25 epochs/stage · mixed precision · grad-clip · coarse homography supervision (fine head off) · best-val checkpointing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· SAME PAIR (FLIR_00006)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ORB vs. zero-shot ELoFTR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85216" y="1481328"/>
            <a:ext cx="6967728" cy="2244182"/>
          </a:xfrm>
          <a:prstGeom prst="roundRect">
            <a:avLst>
              <a:gd name="adj" fmla="val 2445"/>
            </a:avLst>
          </a:prstGeom>
          <a:solidFill>
            <a:srgbClr val="0E1726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5" name="Image 0" descr="/home/claude/nb_images/orb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36192"/>
            <a:ext cx="6858000" cy="21344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36192"/>
            <a:ext cx="3687775" cy="2134454"/>
          </a:xfrm>
          <a:prstGeom prst="roundRect">
            <a:avLst>
              <a:gd name="adj" fmla="val 4284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7" name="Text 4"/>
          <p:cNvSpPr/>
          <p:nvPr/>
        </p:nvSpPr>
        <p:spPr>
          <a:xfrm>
            <a:off x="8119872" y="1737360"/>
            <a:ext cx="3175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+ RANSAC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19872" y="2084832"/>
            <a:ext cx="3175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Hand-crafted features · no learning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19872" y="2737958"/>
            <a:ext cx="31757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inliers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119872" y="3250022"/>
            <a:ext cx="3175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 inlier ratio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5216" y="3890102"/>
            <a:ext cx="6967728" cy="2355308"/>
          </a:xfrm>
          <a:prstGeom prst="roundRect">
            <a:avLst>
              <a:gd name="adj" fmla="val 2329"/>
            </a:avLst>
          </a:prstGeom>
          <a:solidFill>
            <a:srgbClr val="0E1726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2" name="Image 1" descr="/home/claude/nb_images/eloftr_zs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44966"/>
            <a:ext cx="6858000" cy="22455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63840" y="3944966"/>
            <a:ext cx="3687775" cy="2245580"/>
          </a:xfrm>
          <a:prstGeom prst="roundRect">
            <a:avLst>
              <a:gd name="adj" fmla="val 4072"/>
            </a:avLst>
          </a:prstGeom>
          <a:solidFill>
            <a:srgbClr val="E7F3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4" name="Text 10"/>
          <p:cNvSpPr/>
          <p:nvPr/>
        </p:nvSpPr>
        <p:spPr>
          <a:xfrm>
            <a:off x="8119872" y="4146134"/>
            <a:ext cx="31757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ELoFTR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19872" y="4493606"/>
            <a:ext cx="3175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weights · no fine-tuning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119872" y="5257857"/>
            <a:ext cx="31757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inliers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8119872" y="5769921"/>
            <a:ext cx="31757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27.6% inlier ratio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" y="6501441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pair, same RANSAC.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no fine-tuning, ELoFTR finds </a:t>
            </a:r>
            <a:r>
              <a:rPr lang="en-US" sz="1300" b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more verified correspondences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ORB.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· FINE-TUNED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Dense, clean cross-modal correspondences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139800" y="1536192"/>
            <a:ext cx="9912096" cy="3442406"/>
          </a:xfrm>
          <a:prstGeom prst="roundRect">
            <a:avLst>
              <a:gd name="adj" fmla="val 1594"/>
            </a:avLst>
          </a:prstGeom>
          <a:solidFill>
            <a:srgbClr val="0E1726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5" name="Image 0" descr="/home/claude/nb_images/ft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08" y="1600200"/>
            <a:ext cx="9784080" cy="3314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3808" y="502431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ELoFTR on an unseen RoadScene test pair — infrared (left) ↔ visible (right). Green lines are confident matches.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40080" y="5481518"/>
            <a:ext cx="3393338" cy="1078992"/>
          </a:xfrm>
          <a:prstGeom prst="roundRect">
            <a:avLst>
              <a:gd name="adj" fmla="val 762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8" name="Shape 5"/>
          <p:cNvSpPr/>
          <p:nvPr/>
        </p:nvSpPr>
        <p:spPr>
          <a:xfrm>
            <a:off x="841248" y="5746694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9" name="Image 1" descr="/home/claude/icons/networ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894827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5627822"/>
            <a:ext cx="2387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to thousands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536192" y="5920430"/>
            <a:ext cx="2387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1,000–2,200 confident matches per pair — orders of magnitude beyond ORB.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399178" y="5481518"/>
            <a:ext cx="3393338" cy="1078992"/>
          </a:xfrm>
          <a:prstGeom prst="roundRect">
            <a:avLst>
              <a:gd name="adj" fmla="val 762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Shape 9"/>
          <p:cNvSpPr/>
          <p:nvPr/>
        </p:nvSpPr>
        <p:spPr>
          <a:xfrm>
            <a:off x="4600346" y="5746694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4" name="Image 2" descr="/home/claude/icons/road_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479" y="5894827"/>
            <a:ext cx="252374" cy="2523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95290" y="5627822"/>
            <a:ext cx="2387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hard regions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295290" y="5920430"/>
            <a:ext cx="2387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Correspondences cover road, sky and low-texture areas, not just strong corners.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8158277" y="5481518"/>
            <a:ext cx="3393338" cy="1078992"/>
          </a:xfrm>
          <a:prstGeom prst="roundRect">
            <a:avLst>
              <a:gd name="adj" fmla="val 7627"/>
            </a:avLst>
          </a:prstGeom>
          <a:solidFill>
            <a:srgbClr val="F4F7FB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3"/>
          <p:cNvSpPr/>
          <p:nvPr/>
        </p:nvSpPr>
        <p:spPr>
          <a:xfrm>
            <a:off x="8359445" y="5746694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9" name="Image 3" descr="/home/claude/icons/check_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578" y="5894827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54389" y="5627822"/>
            <a:ext cx="2387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Geometrically coherent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9054389" y="5920430"/>
            <a:ext cx="23874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lines are near-parallel and consistent with the scene's registration.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· ROADSCENE TEST (23 PAIRS)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results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926080" cy="548640"/>
          </a:xfrm>
          <a:prstGeom prst="rect">
            <a:avLst/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804672" y="169164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691640"/>
            <a:ext cx="1600200" cy="548640"/>
          </a:xfrm>
          <a:prstGeom prst="rect">
            <a:avLst/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3566160" y="169164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matches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66360" y="1691640"/>
            <a:ext cx="1783080" cy="548640"/>
          </a:xfrm>
          <a:prstGeom prst="rect">
            <a:avLst/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16636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RANSAC inliers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1691640"/>
            <a:ext cx="1554480" cy="548640"/>
          </a:xfrm>
          <a:prstGeom prst="rect">
            <a:avLst/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6949440" y="1691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Inlier ratio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03920" y="1691640"/>
            <a:ext cx="1508760" cy="548640"/>
          </a:xfrm>
          <a:prstGeom prst="rect">
            <a:avLst/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8503920" y="169164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 @ 3px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12680" y="1691640"/>
            <a:ext cx="1536192" cy="548640"/>
          </a:xfrm>
          <a:prstGeom prst="rect">
            <a:avLst/>
          </a:prstGeom>
          <a:solidFill>
            <a:srgbClr val="0E1726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5" name="Text 13"/>
          <p:cNvSpPr/>
          <p:nvPr/>
        </p:nvSpPr>
        <p:spPr>
          <a:xfrm>
            <a:off x="10012680" y="169164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240280"/>
            <a:ext cx="292608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 15"/>
          <p:cNvSpPr/>
          <p:nvPr/>
        </p:nvSpPr>
        <p:spPr>
          <a:xfrm>
            <a:off x="804672" y="2240280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(ORB)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160020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7"/>
          <p:cNvSpPr/>
          <p:nvPr/>
        </p:nvSpPr>
        <p:spPr>
          <a:xfrm>
            <a:off x="3566160" y="22402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411.4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166360" y="2240280"/>
            <a:ext cx="178308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Text 19"/>
          <p:cNvSpPr/>
          <p:nvPr/>
        </p:nvSpPr>
        <p:spPr>
          <a:xfrm>
            <a:off x="5166360" y="224028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2240280"/>
            <a:ext cx="155448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Text 21"/>
          <p:cNvSpPr/>
          <p:nvPr/>
        </p:nvSpPr>
        <p:spPr>
          <a:xfrm>
            <a:off x="6949440" y="2240280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2240280"/>
            <a:ext cx="1508760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8503920" y="224028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12680" y="2240280"/>
            <a:ext cx="1536192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 25"/>
          <p:cNvSpPr/>
          <p:nvPr/>
        </p:nvSpPr>
        <p:spPr>
          <a:xfrm>
            <a:off x="10012680" y="2240280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fps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898648"/>
            <a:ext cx="2926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Text 27"/>
          <p:cNvSpPr/>
          <p:nvPr/>
        </p:nvSpPr>
        <p:spPr>
          <a:xfrm>
            <a:off x="804672" y="2898648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ELoFTR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3566160" y="2898648"/>
            <a:ext cx="16002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Text 29"/>
          <p:cNvSpPr/>
          <p:nvPr/>
        </p:nvSpPr>
        <p:spPr>
          <a:xfrm>
            <a:off x="3566160" y="289864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847.5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166360" y="2898648"/>
            <a:ext cx="17830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Text 31"/>
          <p:cNvSpPr/>
          <p:nvPr/>
        </p:nvSpPr>
        <p:spPr>
          <a:xfrm>
            <a:off x="5166360" y="2898648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323.6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949440" y="2898648"/>
            <a:ext cx="1554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Text 33"/>
          <p:cNvSpPr/>
          <p:nvPr/>
        </p:nvSpPr>
        <p:spPr>
          <a:xfrm>
            <a:off x="6949440" y="2898648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32.0%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503920" y="2898648"/>
            <a:ext cx="1508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 35"/>
          <p:cNvSpPr/>
          <p:nvPr/>
        </p:nvSpPr>
        <p:spPr>
          <a:xfrm>
            <a:off x="8503920" y="2898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71.8%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012680" y="2898648"/>
            <a:ext cx="15361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Text 37"/>
          <p:cNvSpPr/>
          <p:nvPr/>
        </p:nvSpPr>
        <p:spPr>
          <a:xfrm>
            <a:off x="10012680" y="2898648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fps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0080" y="3557016"/>
            <a:ext cx="2926080" cy="658368"/>
          </a:xfrm>
          <a:prstGeom prst="rect">
            <a:avLst/>
          </a:prstGeom>
          <a:solidFill>
            <a:srgbClr val="FDF1D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Text 39"/>
          <p:cNvSpPr/>
          <p:nvPr/>
        </p:nvSpPr>
        <p:spPr>
          <a:xfrm>
            <a:off x="804672" y="3557016"/>
            <a:ext cx="2761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ELoFTR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3566160" y="3557016"/>
            <a:ext cx="1600200" cy="658368"/>
          </a:xfrm>
          <a:prstGeom prst="rect">
            <a:avLst/>
          </a:prstGeom>
          <a:solidFill>
            <a:srgbClr val="FDF1D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Text 41"/>
          <p:cNvSpPr/>
          <p:nvPr/>
        </p:nvSpPr>
        <p:spPr>
          <a:xfrm>
            <a:off x="3566160" y="355701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1600.6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166360" y="3557016"/>
            <a:ext cx="1783080" cy="658368"/>
          </a:xfrm>
          <a:prstGeom prst="rect">
            <a:avLst/>
          </a:prstGeom>
          <a:solidFill>
            <a:srgbClr val="FDF1D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Text 43"/>
          <p:cNvSpPr/>
          <p:nvPr/>
        </p:nvSpPr>
        <p:spPr>
          <a:xfrm>
            <a:off x="5166360" y="3557016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701.2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49440" y="3557016"/>
            <a:ext cx="1554480" cy="658368"/>
          </a:xfrm>
          <a:prstGeom prst="rect">
            <a:avLst/>
          </a:prstGeom>
          <a:solidFill>
            <a:srgbClr val="FDF1D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Text 45"/>
          <p:cNvSpPr/>
          <p:nvPr/>
        </p:nvSpPr>
        <p:spPr>
          <a:xfrm>
            <a:off x="6949440" y="3557016"/>
            <a:ext cx="1554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44.8%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503920" y="3557016"/>
            <a:ext cx="1508760" cy="658368"/>
          </a:xfrm>
          <a:prstGeom prst="rect">
            <a:avLst/>
          </a:prstGeom>
          <a:solidFill>
            <a:srgbClr val="FDF1D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Text 47"/>
          <p:cNvSpPr/>
          <p:nvPr/>
        </p:nvSpPr>
        <p:spPr>
          <a:xfrm>
            <a:off x="8503920" y="355701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0012680" y="3557016"/>
            <a:ext cx="1536192" cy="658368"/>
          </a:xfrm>
          <a:prstGeom prst="rect">
            <a:avLst/>
          </a:prstGeom>
          <a:solidFill>
            <a:srgbClr val="FDF1DF"/>
          </a:solidFill>
          <a:ln w="12700">
            <a:solidFill>
              <a:srgbClr val="EAEFF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 49"/>
          <p:cNvSpPr/>
          <p:nvPr/>
        </p:nvSpPr>
        <p:spPr>
          <a:xfrm>
            <a:off x="10012680" y="3557016"/>
            <a:ext cx="1536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fps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4572000"/>
            <a:ext cx="3393338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3" name="Text 51"/>
          <p:cNvSpPr/>
          <p:nvPr/>
        </p:nvSpPr>
        <p:spPr>
          <a:xfrm>
            <a:off x="914400" y="4681728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91×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914400" y="5230368"/>
            <a:ext cx="2844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RANSAC inliers than ORB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399178" y="4572000"/>
            <a:ext cx="3393338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6" name="Text 54"/>
          <p:cNvSpPr/>
          <p:nvPr/>
        </p:nvSpPr>
        <p:spPr>
          <a:xfrm>
            <a:off x="4673498" y="4681728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+12.8 pts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4673498" y="5230368"/>
            <a:ext cx="2844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inlier ratio from fine-tuning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8158277" y="4572000"/>
            <a:ext cx="3393338" cy="100584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9" name="Text 57"/>
          <p:cNvSpPr/>
          <p:nvPr/>
        </p:nvSpPr>
        <p:spPr>
          <a:xfrm>
            <a:off x="8432597" y="4681728"/>
            <a:ext cx="28446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76.4%</a:t>
            </a:r>
            <a:endParaRPr lang="en-US" sz="3200" dirty="0"/>
          </a:p>
        </p:txBody>
      </p:sp>
      <p:sp>
        <p:nvSpPr>
          <p:cNvPr id="60" name="Text 58"/>
          <p:cNvSpPr/>
          <p:nvPr/>
        </p:nvSpPr>
        <p:spPr>
          <a:xfrm>
            <a:off x="8432597" y="5230368"/>
            <a:ext cx="28446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accuracy (MMA@3px)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40080" y="57607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MMA@3px = share of matches consistent with the pairs' known IR↔RGB registration.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02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· VISUAL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gains show up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5321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Text 3"/>
          <p:cNvSpPr/>
          <p:nvPr/>
        </p:nvSpPr>
        <p:spPr>
          <a:xfrm>
            <a:off x="914400" y="1947672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quality (%)</a:t>
            </a:r>
            <a:endParaRPr lang="en-US" sz="15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77240" y="2350008"/>
          <a:ext cx="5257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583680" y="1783080"/>
            <a:ext cx="4967935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4E9F1"/>
            </a:solidFill>
            <a:prstDash val="solid"/>
          </a:ln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8" name="Text 5"/>
          <p:cNvSpPr/>
          <p:nvPr/>
        </p:nvSpPr>
        <p:spPr>
          <a:xfrm>
            <a:off x="6858000" y="1947672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(frames / second)</a:t>
            </a:r>
            <a:endParaRPr lang="en-US" sz="15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720840" y="2350008"/>
          <a:ext cx="4693615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5440680"/>
            <a:ext cx="10911535" cy="749808"/>
          </a:xfrm>
          <a:prstGeom prst="roundRect">
            <a:avLst>
              <a:gd name="adj" fmla="val 12195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1" name="Shape 7"/>
          <p:cNvSpPr/>
          <p:nvPr/>
        </p:nvSpPr>
        <p:spPr>
          <a:xfrm>
            <a:off x="859536" y="55778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2" name="Image 0" descr="/home/claude/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70585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5440680"/>
            <a:ext cx="98599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18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18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ELoFTR's accuracy lead is enormous, and fine-tuning lifts it further. ORB wins raw FPS but its matches are unusable; both ELoFTR variants share one architecture, so their speeds are effectively equal (~6–9 fps) and stay real-time.</a:t>
            </a:r>
            <a:endParaRPr lang="en-US" sz="1180" dirty="0"/>
          </a:p>
        </p:txBody>
      </p:sp>
      <p:sp>
        <p:nvSpPr>
          <p:cNvPr id="14" name="Text 9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77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trade-offs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27168" cy="4206240"/>
          </a:xfrm>
          <a:prstGeom prst="roundRect">
            <a:avLst>
              <a:gd name="adj" fmla="val 2174"/>
            </a:avLst>
          </a:prstGeom>
          <a:solidFill>
            <a:srgbClr val="F4F7FB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932688" y="1920240"/>
            <a:ext cx="566928" cy="56692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6" name="Image 0" descr="/home/claude/icons/co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59" y="207331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56816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· ORB + RANSAC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50976" y="2697480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pic>
        <p:nvPicPr>
          <p:cNvPr id="9" name="Image 1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99923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43584" y="297180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fast, tiny footprint</a:t>
            </a:r>
            <a:endParaRPr lang="en-US" sz="1200" dirty="0"/>
          </a:p>
        </p:txBody>
      </p:sp>
      <p:pic>
        <p:nvPicPr>
          <p:cNvPr id="11" name="Image 2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31012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43584" y="3282696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and no training required</a:t>
            </a:r>
            <a:endParaRPr lang="en-US" sz="1200" dirty="0"/>
          </a:p>
        </p:txBody>
      </p:sp>
      <p:pic>
        <p:nvPicPr>
          <p:cNvPr id="13" name="Image 3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362102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43584" y="359359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to deploy anywhere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950976" y="4014216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pic>
        <p:nvPicPr>
          <p:cNvPr id="16" name="Image 4" descr="/home/claude/icons/times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31596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43584" y="4288536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across the modality gap</a:t>
            </a:r>
            <a:endParaRPr lang="en-US" sz="1200" dirty="0"/>
          </a:p>
        </p:txBody>
      </p:sp>
      <p:pic>
        <p:nvPicPr>
          <p:cNvPr id="18" name="Image 5" descr="/home/claude/icons/times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626864"/>
            <a:ext cx="182880" cy="1828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43584" y="45994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~8 inliers survive RANSAC</a:t>
            </a:r>
            <a:endParaRPr lang="en-US" sz="1200" dirty="0"/>
          </a:p>
        </p:txBody>
      </p:sp>
      <p:pic>
        <p:nvPicPr>
          <p:cNvPr id="20" name="Image 6" descr="/home/claude/icons/times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4937760"/>
            <a:ext cx="182880" cy="18288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43584" y="491032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 ~6% — unusable for geometry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6324448" y="1645920"/>
            <a:ext cx="5227168" cy="4206240"/>
          </a:xfrm>
          <a:prstGeom prst="roundRect">
            <a:avLst>
              <a:gd name="adj" fmla="val 2174"/>
            </a:avLst>
          </a:prstGeom>
          <a:solidFill>
            <a:srgbClr val="FDF1DF"/>
          </a:solidFill>
          <a:ln/>
          <a:effectLst>
            <a:outerShdw blurRad="114300" dist="38100" dir="5400000" algn="bl" rotWithShape="0">
              <a:srgbClr val="0B1220">
                <a:alpha val="16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3" name="Shape 14"/>
          <p:cNvSpPr/>
          <p:nvPr/>
        </p:nvSpPr>
        <p:spPr>
          <a:xfrm>
            <a:off x="6617056" y="192024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24" name="Image 7" descr="/home/claude/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126" y="2073311"/>
            <a:ext cx="260787" cy="260787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284568" y="1956816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EfficientLoFTR</a:t>
            </a:r>
            <a:endParaRPr lang="en-US" sz="1700" dirty="0"/>
          </a:p>
        </p:txBody>
      </p:sp>
      <p:sp>
        <p:nvSpPr>
          <p:cNvPr id="26" name="Text 16"/>
          <p:cNvSpPr/>
          <p:nvPr/>
        </p:nvSpPr>
        <p:spPr>
          <a:xfrm>
            <a:off x="6635344" y="2697480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pic>
        <p:nvPicPr>
          <p:cNvPr id="27" name="Image 8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2999232"/>
            <a:ext cx="182880" cy="1828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927952" y="2971800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semi-dense cross-modal matches</a:t>
            </a:r>
            <a:endParaRPr lang="en-US" sz="1200" dirty="0"/>
          </a:p>
        </p:txBody>
      </p:sp>
      <p:pic>
        <p:nvPicPr>
          <p:cNvPr id="29" name="Image 9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3310128"/>
            <a:ext cx="182880" cy="182880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927952" y="3282696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(MMA 72–76%)</a:t>
            </a:r>
            <a:endParaRPr lang="en-US" sz="1200" dirty="0"/>
          </a:p>
        </p:txBody>
      </p:sp>
      <p:pic>
        <p:nvPicPr>
          <p:cNvPr id="31" name="Image 10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3621024"/>
            <a:ext cx="182880" cy="18288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6927952" y="359359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adds a clear margin</a:t>
            </a:r>
            <a:endParaRPr lang="en-US" sz="1200" dirty="0"/>
          </a:p>
        </p:txBody>
      </p:sp>
      <p:pic>
        <p:nvPicPr>
          <p:cNvPr id="33" name="Image 11" descr="/home/claude/icons/check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3931920"/>
            <a:ext cx="182880" cy="18288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6927952" y="390448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real-time (~9 fps)</a:t>
            </a:r>
            <a:endParaRPr lang="en-US" sz="1200" dirty="0"/>
          </a:p>
        </p:txBody>
      </p:sp>
      <p:sp>
        <p:nvSpPr>
          <p:cNvPr id="35" name="Text 21"/>
          <p:cNvSpPr/>
          <p:nvPr/>
        </p:nvSpPr>
        <p:spPr>
          <a:xfrm>
            <a:off x="6635344" y="4325112"/>
            <a:ext cx="467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pic>
        <p:nvPicPr>
          <p:cNvPr id="36" name="Image 12" descr="/home/claude/icons/times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32" y="4626864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6927952" y="4599432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GPU; slower than ORB</a:t>
            </a:r>
            <a:endParaRPr lang="en-US" sz="1200" dirty="0"/>
          </a:p>
        </p:txBody>
      </p:sp>
      <p:pic>
        <p:nvPicPr>
          <p:cNvPr id="38" name="Image 13" descr="/home/claude/icons/times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32" y="4937760"/>
            <a:ext cx="182880" cy="18288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6927952" y="4910328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results want in-domain fine-tuning</a:t>
            </a:r>
            <a:endParaRPr lang="en-US" sz="1200" dirty="0"/>
          </a:p>
        </p:txBody>
      </p:sp>
      <p:pic>
        <p:nvPicPr>
          <p:cNvPr id="40" name="Image 14" descr="/home/claude/icons/times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632" y="5248656"/>
            <a:ext cx="182880" cy="18288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6927952" y="5221224"/>
            <a:ext cx="431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struggle on strong repetitive structure</a:t>
            </a:r>
            <a:endParaRPr lang="en-US" sz="1200" dirty="0"/>
          </a:p>
        </p:txBody>
      </p:sp>
      <p:sp>
        <p:nvSpPr>
          <p:cNvPr id="42" name="Text 25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8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6" name="Shape 4"/>
          <p:cNvSpPr/>
          <p:nvPr/>
        </p:nvSpPr>
        <p:spPr>
          <a:xfrm>
            <a:off x="859536" y="2414016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7" name="Image 0" descr="/home/claude/icons/bullsey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9" y="2562149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48840"/>
            <a:ext cx="4389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ELoFTR decisively beats ORB on thermal–optical matching — MMA 76% vs. 6%, and 91× more verified inliers.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74136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0" name="Shape 7"/>
          <p:cNvSpPr/>
          <p:nvPr/>
        </p:nvSpPr>
        <p:spPr>
          <a:xfrm>
            <a:off x="859536" y="3639312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1" name="Image 1" descr="/home/claude/icons/road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669" y="378744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374136"/>
            <a:ext cx="4389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on RoadScene adds a real margin: inlier ratio 32% → 45%, inliers roughly 2.2×.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599432"/>
            <a:ext cx="5532120" cy="1078992"/>
          </a:xfrm>
          <a:prstGeom prst="roundRect">
            <a:avLst>
              <a:gd name="adj" fmla="val 8475"/>
            </a:avLst>
          </a:prstGeom>
          <a:solidFill>
            <a:srgbClr val="16223A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4" name="Shape 10"/>
          <p:cNvSpPr/>
          <p:nvPr/>
        </p:nvSpPr>
        <p:spPr>
          <a:xfrm>
            <a:off x="859536" y="4864608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5" name="Image 2" descr="/home/claude/icons/bol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9" y="5012741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599432"/>
            <a:ext cx="4389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7000"/>
              </a:lnSpc>
              <a:buNone/>
            </a:pPr>
            <a:r>
              <a:rPr lang="en-US" sz="12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adapted model stays real-time (~9 fps), keeping it practical for SLAM / localization use.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583680" y="2148840"/>
            <a:ext cx="4967935" cy="3968496"/>
          </a:xfrm>
          <a:prstGeom prst="roundRect">
            <a:avLst>
              <a:gd name="adj" fmla="val 2304"/>
            </a:avLst>
          </a:prstGeom>
          <a:solidFill>
            <a:srgbClr val="1C2C49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18" name="Shape 13"/>
          <p:cNvSpPr/>
          <p:nvPr/>
        </p:nvSpPr>
        <p:spPr>
          <a:xfrm>
            <a:off x="6858000" y="23500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9" name="Image 3" descr="/home/claude/icons/rock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6133" y="2498141"/>
            <a:ext cx="252374" cy="25237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43800" y="2368296"/>
            <a:ext cx="3870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894576" y="3108960"/>
            <a:ext cx="4364431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the dataset's ROMA ground-truth homographies → pose / reprojection-error AUC.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 larger multimodal corpus (LasHeR, VEDAI) and re-enable the fine-level refinement head.</a:t>
            </a:r>
            <a:endParaRPr lang="en-US" sz="1300" dirty="0"/>
          </a:p>
          <a:p>
            <a:pPr marL="342900" indent="-3429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LO-RANSAC and a licensed SURF baseline for a fuller classical comparison.</a:t>
            </a:r>
            <a:endParaRPr lang="en-US" sz="1300" dirty="0"/>
          </a:p>
          <a:p>
            <a:pPr marL="342900" indent="-342900">
              <a:lnSpc>
                <a:spcPct val="106000"/>
              </a:lnSpc>
              <a:buSzPct val="100000"/>
              <a:buChar char="•"/>
            </a:pPr>
            <a:r>
              <a:rPr lang="en-US" sz="13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global/semantic context to fix the repetitive-structure failure noted in the paper.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141445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480560"/>
            <a:ext cx="4480560" cy="109728"/>
          </a:xfrm>
          <a:prstGeom prst="line">
            <a:avLst/>
          </a:prstGeom>
          <a:noFill/>
          <a:ln w="1651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Shape 1"/>
          <p:cNvSpPr/>
          <p:nvPr/>
        </p:nvSpPr>
        <p:spPr>
          <a:xfrm flipV="1">
            <a:off x="6949440" y="4590288"/>
            <a:ext cx="4461662" cy="210312"/>
          </a:xfrm>
          <a:prstGeom prst="line">
            <a:avLst/>
          </a:prstGeom>
          <a:noFill/>
          <a:ln w="1651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Shape 2"/>
          <p:cNvSpPr/>
          <p:nvPr/>
        </p:nvSpPr>
        <p:spPr>
          <a:xfrm>
            <a:off x="6949440" y="5120640"/>
            <a:ext cx="4480560" cy="0"/>
          </a:xfrm>
          <a:prstGeom prst="line">
            <a:avLst/>
          </a:prstGeom>
          <a:noFill/>
          <a:ln w="1651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6949440" y="5138927"/>
            <a:ext cx="4480560" cy="301753"/>
          </a:xfrm>
          <a:prstGeom prst="line">
            <a:avLst/>
          </a:prstGeom>
          <a:noFill/>
          <a:ln w="16510">
            <a:solidFill>
              <a:srgbClr val="0EA5E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walk through the code, the training details, or any of the results in our meeting.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2286000" cy="502920"/>
          </a:xfrm>
          <a:prstGeom prst="roundRect">
            <a:avLst>
              <a:gd name="adj" fmla="val 50000"/>
            </a:avLst>
          </a:prstGeom>
          <a:solidFill>
            <a:srgbClr val="23344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0" name="Image 0" descr="/home/claude/icons/thermo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441838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33856" y="4297680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/ IR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108960" y="4297680"/>
            <a:ext cx="2423160" cy="502920"/>
          </a:xfrm>
          <a:prstGeom prst="roundRect">
            <a:avLst>
              <a:gd name="adj" fmla="val 50000"/>
            </a:avLst>
          </a:prstGeom>
          <a:solidFill>
            <a:srgbClr val="23344F"/>
          </a:solidFill>
          <a:ln/>
        </p:spPr>
        <p:txBody>
          <a:bodyPr/>
          <a:lstStyle/>
          <a:p>
            <a:endParaRPr lang="en-TR"/>
          </a:p>
        </p:txBody>
      </p:sp>
      <p:pic>
        <p:nvPicPr>
          <p:cNvPr id="13" name="Image 1" descr="/home/claude/icons/camera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778" y="441838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02736" y="4297680"/>
            <a:ext cx="1856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/ RGB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5532120"/>
            <a:ext cx="5669280" cy="0"/>
          </a:xfrm>
          <a:prstGeom prst="line">
            <a:avLst/>
          </a:prstGeom>
          <a:noFill/>
          <a:ln w="12700">
            <a:solidFill>
              <a:srgbClr val="31436A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2"/>
          <p:cNvSpPr/>
          <p:nvPr/>
        </p:nvSpPr>
        <p:spPr>
          <a:xfrm>
            <a:off x="640080" y="5669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 Sajjadi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Fine-Tuning of EfficientLoFTR  ·  Thermal–Optical Image Matching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1851</Words>
  <Application>Microsoft Office PowerPoint</Application>
  <PresentationFormat>Widescreen</PresentationFormat>
  <Paragraphs>255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&amp; Fine-Tuning of EfficientLoFTR</dc:title>
  <dc:subject>PptxGenJS Presentation</dc:subject>
  <dc:creator>Arman</dc:creator>
  <cp:lastModifiedBy>arman sajadi</cp:lastModifiedBy>
  <cp:revision>7</cp:revision>
  <dcterms:created xsi:type="dcterms:W3CDTF">2026-06-18T19:54:54Z</dcterms:created>
  <dcterms:modified xsi:type="dcterms:W3CDTF">2026-06-19T10:10:00Z</dcterms:modified>
</cp:coreProperties>
</file>